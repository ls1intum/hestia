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70" r:id="rId7"/>
    <p:sldId id="259" r:id="rId8"/>
    <p:sldId id="268" r:id="rId9"/>
    <p:sldId id="267" r:id="rId10"/>
    <p:sldId id="262" r:id="rId11"/>
    <p:sldId id="269" r:id="rId12"/>
    <p:sldId id="264" r:id="rId13"/>
    <p:sldId id="258" r:id="rId14"/>
    <p:sldId id="265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title — Used for the session title slide. Replace the bracketed placeholders with the session name, instructor, date and duration.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agenda — Used for the agenda / learning goals slide. Copy the learning-goal list from your session plan; each row can carry an optional time estimate.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content — General-purpose slide for a welcome message or a bulleted summary. Swap the eyebrow/title and bullet text for your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activity_grid3 — Used for </a:t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🧠 </a:t>
            </a:r>
            <a:r>
              <a:rPr lang="en-US" b="1" kern="0" spc="15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THINK-PAIR-SHARE</a:t>
            </a:r>
            <a:br>
              <a:rPr lang="en-US" b="1" kern="0" spc="15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</a:br>
            <a:r>
              <a:rPr lang="en-US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🧠 </a:t>
            </a:r>
            <a:r>
              <a:rPr lang="en-US" altLang="en-US" b="1" kern="0" spc="15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Brainstorming</a:t>
            </a:r>
            <a:endParaRPr lang="en-US" altLang="en-US" b="1" kern="0" spc="150" dirty="0">
              <a:solidFill>
                <a:srgbClr val="059669"/>
              </a:solidFill>
              <a:latin typeface="Inter" pitchFamily="34" charset="0"/>
              <a:ea typeface="Inter" pitchFamily="34" charset="-122"/>
              <a:cs typeface="Inter" pitchFamily="34" charset="-120"/>
              <a:sym typeface="+mn-ea"/>
            </a:endParaRPr>
          </a:p>
          <a:p>
            <a:r>
              <a:rPr lang="en-US" altLang="en-US" b="1" dirty="0">
                <a:sym typeface="+mn-ea"/>
              </a:rPr>
              <a:t>⚙️  </a:t>
            </a:r>
            <a:r>
              <a:rPr lang="en-US" b="1" dirty="0">
                <a:sym typeface="+mn-ea"/>
              </a:rPr>
              <a:t>WORKED PROBLEM</a:t>
            </a:r>
            <a:br>
              <a:rPr lang="en-US" altLang="en-US" b="1" kern="0" spc="15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</a:br>
            <a:r>
              <a:rPr lang="zh-CN" altLang="en-US" b="1" kern="0" spc="15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🎨</a:t>
            </a:r>
            <a:r>
              <a:rPr lang="en-US" altLang="en-US" b="1" kern="0" spc="15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 Design Sprint / Prototype Challenge</a:t>
            </a:r>
            <a:endParaRPr lang="en-US" altLang="en-US" b="1" kern="0" spc="150" dirty="0">
              <a:solidFill>
                <a:srgbClr val="059669"/>
              </a:solidFill>
              <a:latin typeface="Inter" pitchFamily="34" charset="0"/>
              <a:ea typeface="Inter" pitchFamily="34" charset="-122"/>
              <a:cs typeface="Inter" pitchFamily="34" charset="-120"/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Layout: activity_sidebar — Used for </a:t>
            </a:r>
            <a:br>
              <a:rPr lang="en-US" dirty="0">
                <a:sym typeface="+mn-ea"/>
              </a:rPr>
            </a:br>
            <a:r>
              <a:rPr lang="zh-CN" altLang="en-US" b="1" kern="0" spc="150" dirty="0"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💬</a:t>
            </a:r>
            <a:r>
              <a:rPr lang="en-US" altLang="zh-CN" b="1" kern="0" spc="150" dirty="0"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 </a:t>
            </a:r>
            <a:r>
              <a:rPr lang="en-US" b="1" kern="0" spc="150" dirty="0"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GROUP DISCUSSION</a:t>
            </a:r>
            <a:r>
              <a:rPr lang="en-US" dirty="0">
                <a:sym typeface="+mn-ea"/>
              </a:rPr>
              <a:t>, </a:t>
            </a:r>
            <a:br>
              <a:rPr lang="en-US" dirty="0">
                <a:sym typeface="+mn-ea"/>
              </a:rPr>
            </a:br>
            <a:r>
              <a:rPr lang="zh-CN" altLang="en-US" dirty="0">
                <a:sym typeface="+mn-ea"/>
              </a:rPr>
              <a:t>🗣️</a:t>
            </a:r>
            <a:r>
              <a:rPr lang="en-US" altLang="zh-CN" dirty="0">
                <a:sym typeface="+mn-ea"/>
              </a:rPr>
              <a:t>  </a:t>
            </a:r>
            <a:r>
              <a:rPr lang="en-US" b="1" dirty="0">
                <a:sym typeface="+mn-ea"/>
              </a:rPr>
              <a:t>Debate </a:t>
            </a:r>
            <a:br>
              <a:rPr lang="en-US" b="1" dirty="0">
                <a:sym typeface="+mn-ea"/>
              </a:rPr>
            </a:br>
            <a:r>
              <a:rPr lang="zh-CN" altLang="en-US" b="1" dirty="0">
                <a:sym typeface="+mn-ea"/>
              </a:rPr>
              <a:t>👥</a:t>
            </a:r>
            <a:r>
              <a:rPr lang="en-US" altLang="zh-CN" b="1" dirty="0">
                <a:sym typeface="+mn-ea"/>
              </a:rPr>
              <a:t>  </a:t>
            </a:r>
            <a:r>
              <a:rPr lang="en-US" b="1" dirty="0">
                <a:sym typeface="+mn-ea"/>
              </a:rPr>
              <a:t>Peer Review</a:t>
            </a:r>
            <a:endParaRPr lang="en-US" b="1" dirty="0"/>
          </a:p>
          <a:p>
            <a:r>
              <a:rPr lang="zh-CN" altLang="en-US" b="1" dirty="0">
                <a:sym typeface="+mn-ea"/>
              </a:rPr>
              <a:t>🎭</a:t>
            </a:r>
            <a:r>
              <a:rPr lang="en-US" altLang="zh-CN" b="1" dirty="0">
                <a:sym typeface="+mn-ea"/>
              </a:rPr>
              <a:t>  </a:t>
            </a:r>
            <a:r>
              <a:rPr lang="en-US" b="1" dirty="0">
                <a:sym typeface="+mn-ea"/>
              </a:rPr>
              <a:t>Role Play</a:t>
            </a:r>
            <a:endParaRPr lang="en-US" b="1" dirty="0"/>
          </a:p>
          <a:p>
            <a:r>
              <a:rPr lang="zh-CN" altLang="en-US" b="1" kern="0" spc="150" dirty="0"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💼</a:t>
            </a:r>
            <a:r>
              <a:rPr lang="en-US" b="1" kern="0" spc="150" dirty="0"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 </a:t>
            </a:r>
            <a:r>
              <a:rPr lang="en-US" b="1" dirty="0">
                <a:sym typeface="+mn-ea"/>
              </a:rPr>
              <a:t>CASE STUDY</a:t>
            </a:r>
            <a:br>
              <a:rPr lang="en-US" b="1" dirty="0">
                <a:sym typeface="+mn-ea"/>
              </a:rPr>
            </a:br>
            <a:r>
              <a:rPr lang="zh-CN" altLang="en-US" b="1" dirty="0">
                <a:sym typeface="+mn-ea"/>
              </a:rPr>
              <a:t>🗺</a:t>
            </a:r>
            <a:r>
              <a:rPr lang="en-US" altLang="zh-CN" b="1" dirty="0">
                <a:sym typeface="+mn-ea"/>
              </a:rPr>
              <a:t>  </a:t>
            </a:r>
            <a:r>
              <a:rPr lang="en-US" b="1" dirty="0">
                <a:sym typeface="+mn-ea"/>
              </a:rPr>
              <a:t>CONCEPT MAPPING</a:t>
            </a:r>
            <a:endParaRPr lang="en-US" b="1" dirty="0">
              <a:sym typeface="+mn-ea"/>
            </a:endParaRPr>
          </a:p>
          <a:p>
            <a:r>
              <a:rPr lang="en-US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🛠️  </a:t>
            </a:r>
            <a:r>
              <a:rPr lang="en-US" b="1" kern="0" spc="150" dirty="0"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HANDS-ON PRACTICE</a:t>
            </a:r>
            <a:br>
              <a:rPr lang="en-US" dirty="0">
                <a:sym typeface="+mn-ea"/>
              </a:rPr>
            </a:br>
            <a:r>
              <a:rPr lang="en-US" dirty="0">
                <a:sym typeface="+mn-ea"/>
              </a:rPr>
              <a:t>a prompt card plus two supporting tiles (e.g. logistics + deliverable). Duplicate and relabel the tiles as needed.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activity_sidebar — Used for </a:t>
            </a:r>
            <a:r>
              <a:rPr lang="en-US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🙋  </a:t>
            </a:r>
            <a:r>
              <a:rPr lang="en-US" b="1" kern="0" spc="15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Q&amp;A SESSION</a:t>
            </a:r>
            <a:r>
              <a:rPr lang="en-US" dirty="0"/>
              <a:t>, One Minute Paper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live_poll — Used for quiz or poll questions with lettered options. </a:t>
            </a:r>
            <a:br>
              <a:rPr lang="en-US" dirty="0"/>
            </a:br>
            <a:r>
              <a:rPr lang="en-US" dirty="0"/>
              <a:t>Add/remove option rows as needed (3 or 4 tends to fit best).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debrief — Instructor-facing recap that follows an activity slide: suggested answer, common misconceptions, and the key takeaway tied to the learning goal. No participant interaction required — this is a summary you present.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lecture_placeholder — Marks where instructor-led lecture content belongs. Replace the placeholder box with your own slides/diagrams/notes; this layout is deliberately left generic.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summary — General-purpose slide for a welcome message or a bulleted summary. Swap the eyebrow/title and bullet text for your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break — Standalone break slide. Set the duration and optionally add a room number or return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5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1463040"/>
            <a:ext cx="3840480" cy="3840480"/>
          </a:xfrm>
          <a:prstGeom prst="ellipse">
            <a:avLst/>
          </a:prstGeom>
          <a:solidFill>
            <a:srgbClr val="865C1D">
              <a:alpha val="8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1463040" y="4480560"/>
            <a:ext cx="3291840" cy="3291840"/>
          </a:xfrm>
          <a:prstGeom prst="ellipse">
            <a:avLst/>
          </a:prstGeom>
          <a:solidFill>
            <a:srgbClr val="059669">
              <a:alpha val="8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731520" y="2697480"/>
            <a:ext cx="10728655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2C242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[Session Title]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0" y="3886200"/>
            <a:ext cx="1219169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B66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899855" y="647395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50" dirty="0">
                <a:solidFill>
                  <a:srgbClr val="6B66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TEMPLATE  ·  title</a:t>
            </a:r>
            <a:endParaRPr lang="en-US" sz="850" dirty="0"/>
          </a:p>
        </p:txBody>
      </p:sp>
      <p:sp>
        <p:nvSpPr>
          <p:cNvPr id="4" name="Text 4"/>
          <p:cNvSpPr/>
          <p:nvPr/>
        </p:nvSpPr>
        <p:spPr>
          <a:xfrm>
            <a:off x="0" y="4025900"/>
            <a:ext cx="1219169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6B66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[Instructor Name]   ·   [Date]   ·   [Duration]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🗂️ </a:t>
            </a:r>
            <a:r>
              <a:rPr lang="en-US" sz="1600" b="1" kern="0" spc="150" dirty="0">
                <a:solidFill>
                  <a:srgbClr val="865C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AGENDA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1094415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2C242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What We'll Cover Today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713232"/>
          </a:xfrm>
          <a:prstGeom prst="rect">
            <a:avLst/>
          </a:prstGeom>
          <a:solidFill>
            <a:srgbClr val="F8F7F6"/>
          </a:solidFill>
          <a:ln w="12700">
            <a:solidFill>
              <a:srgbClr val="DFDEDD"/>
            </a:solidFill>
            <a:prstDash val="solid"/>
          </a:ln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755648"/>
            <a:ext cx="402336" cy="402336"/>
          </a:xfrm>
          <a:prstGeom prst="ellipse">
            <a:avLst/>
          </a:prstGeom>
          <a:solidFill>
            <a:srgbClr val="865C1D"/>
          </a:solidFill>
        </p:spPr>
      </p:sp>
      <p:sp>
        <p:nvSpPr>
          <p:cNvPr id="6" name="Text 4"/>
          <p:cNvSpPr/>
          <p:nvPr/>
        </p:nvSpPr>
        <p:spPr>
          <a:xfrm>
            <a:off x="749808" y="175564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600200"/>
            <a:ext cx="9082735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2C2420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[Learning Goal 1]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48640" y="2441448"/>
            <a:ext cx="11094415" cy="713232"/>
          </a:xfrm>
          <a:prstGeom prst="rect">
            <a:avLst/>
          </a:prstGeom>
          <a:solidFill>
            <a:srgbClr val="F8F7F6"/>
          </a:solidFill>
          <a:ln w="12700">
            <a:solidFill>
              <a:srgbClr val="DFDEDD"/>
            </a:solidFill>
            <a:prstDash val="solid"/>
          </a:ln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9808" y="2596896"/>
            <a:ext cx="402336" cy="402336"/>
          </a:xfrm>
          <a:prstGeom prst="ellipse">
            <a:avLst/>
          </a:prstGeom>
          <a:solidFill>
            <a:srgbClr val="865C1D"/>
          </a:solidFill>
        </p:spPr>
      </p:sp>
      <p:sp>
        <p:nvSpPr>
          <p:cNvPr id="11" name="Text 9"/>
          <p:cNvSpPr/>
          <p:nvPr/>
        </p:nvSpPr>
        <p:spPr>
          <a:xfrm>
            <a:off x="749808" y="2596896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2441448"/>
            <a:ext cx="9082735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2C24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[Learning Goal 2]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548640" y="3282696"/>
            <a:ext cx="11094415" cy="713232"/>
          </a:xfrm>
          <a:prstGeom prst="rect">
            <a:avLst/>
          </a:prstGeom>
          <a:solidFill>
            <a:srgbClr val="F8F7F6"/>
          </a:solidFill>
          <a:ln w="12700">
            <a:solidFill>
              <a:srgbClr val="DFDEDD"/>
            </a:solidFill>
            <a:prstDash val="solid"/>
          </a:ln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3438144"/>
            <a:ext cx="402336" cy="402336"/>
          </a:xfrm>
          <a:prstGeom prst="ellipse">
            <a:avLst/>
          </a:prstGeom>
          <a:solidFill>
            <a:srgbClr val="865C1D"/>
          </a:solidFill>
        </p:spPr>
      </p:sp>
      <p:sp>
        <p:nvSpPr>
          <p:cNvPr id="16" name="Text 14"/>
          <p:cNvSpPr/>
          <p:nvPr/>
        </p:nvSpPr>
        <p:spPr>
          <a:xfrm>
            <a:off x="749808" y="3438144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3282696"/>
            <a:ext cx="9082735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2C24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[Learning Goal 3]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548640" y="4123944"/>
            <a:ext cx="11094415" cy="713232"/>
          </a:xfrm>
          <a:prstGeom prst="rect">
            <a:avLst/>
          </a:prstGeom>
          <a:solidFill>
            <a:srgbClr val="F8F7F6"/>
          </a:solidFill>
          <a:ln w="12700">
            <a:solidFill>
              <a:srgbClr val="DFDEDD"/>
            </a:solidFill>
            <a:prstDash val="solid"/>
          </a:ln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" y="4279392"/>
            <a:ext cx="402336" cy="402336"/>
          </a:xfrm>
          <a:prstGeom prst="ellipse">
            <a:avLst/>
          </a:prstGeom>
          <a:solidFill>
            <a:srgbClr val="865C1D"/>
          </a:solidFill>
        </p:spPr>
      </p:sp>
      <p:sp>
        <p:nvSpPr>
          <p:cNvPr id="21" name="Text 19"/>
          <p:cNvSpPr/>
          <p:nvPr/>
        </p:nvSpPr>
        <p:spPr>
          <a:xfrm>
            <a:off x="749808" y="427939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4123944"/>
            <a:ext cx="9082735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2C2420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[Learning Goal ...]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749808" y="596188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899855" y="647395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50" dirty="0">
                <a:solidFill>
                  <a:srgbClr val="6B66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TEMPLATE  ·  agenda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👋</a:t>
            </a: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00" b="1" kern="0" spc="150" dirty="0">
                <a:solidFill>
                  <a:srgbClr val="865C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WELCOME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1094415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2C242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Welcome to [Session Title]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4434840"/>
          </a:xfrm>
          <a:prstGeom prst="rect">
            <a:avLst/>
          </a:prstGeom>
          <a:solidFill>
            <a:srgbClr val="F8F7F6"/>
          </a:solidFill>
          <a:ln w="12700">
            <a:solidFill>
              <a:srgbClr val="DFDEDD"/>
            </a:solidFill>
            <a:prstDash val="solid"/>
          </a:ln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057400"/>
            <a:ext cx="10454335" cy="3749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3000" dirty="0">
                <a:solidFill>
                  <a:srgbClr val="2C24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[Welcome messages]</a:t>
            </a:r>
            <a:endParaRPr lang="en-US" sz="3000" dirty="0"/>
          </a:p>
          <a:p>
            <a:pPr indent="0">
              <a:lnSpc>
                <a:spcPct val="130000"/>
              </a:lnSpc>
              <a:spcAft>
                <a:spcPts val="1400"/>
              </a:spcAft>
              <a:buSzPct val="100000"/>
              <a:buNone/>
            </a:pP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899855" y="647395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50" dirty="0">
                <a:solidFill>
                  <a:srgbClr val="6B66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TEMPLATE  ·  welcom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3" name="Text 1"/>
          <p:cNvSpPr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[ACTIVITY NAME] - </a:t>
            </a:r>
            <a:r>
              <a:rPr lang="en-US" sz="1600" b="1" kern="0" spc="15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[PHASE]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04240"/>
            <a:ext cx="11104245" cy="3382010"/>
          </a:xfrm>
          <a:prstGeom prst="rect">
            <a:avLst/>
          </a:prstGeom>
          <a:solidFill>
            <a:srgbClr val="F8F7F6"/>
          </a:solidFill>
          <a:ln w="12700">
            <a:solidFill>
              <a:srgbClr val="DFDEDD"/>
            </a:solidFill>
            <a:prstDash val="solid"/>
          </a:ln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904240"/>
            <a:ext cx="82550" cy="3370580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7" name="Text 5"/>
          <p:cNvSpPr/>
          <p:nvPr/>
        </p:nvSpPr>
        <p:spPr>
          <a:xfrm>
            <a:off x="868680" y="1171067"/>
            <a:ext cx="10454335" cy="9052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3200" dirty="0">
                <a:solidFill>
                  <a:srgbClr val="2C24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[Write the question or task participants will think about individually, then discuss with a partner, before sharing with the room.]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48640" y="4545965"/>
            <a:ext cx="3545840" cy="1900555"/>
          </a:xfrm>
          <a:prstGeom prst="rect">
            <a:avLst/>
          </a:prstGeom>
          <a:solidFill>
            <a:srgbClr val="F8F7F6"/>
          </a:solidFill>
          <a:ln w="12700">
            <a:solidFill>
              <a:srgbClr val="DFDEDD"/>
            </a:solidFill>
            <a:prstDash val="solid"/>
          </a:ln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4700" y="4772660"/>
            <a:ext cx="3086735" cy="145288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 marL="0" indent="0" algn="ctr">
              <a:buNone/>
            </a:pPr>
            <a:r>
              <a:rPr lang="en-US" sz="3000" b="1" kern="0" spc="5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[THINK (2 min)]</a:t>
            </a:r>
            <a:endParaRPr lang="en-US" sz="3000" b="1" kern="0" spc="50" dirty="0">
              <a:solidFill>
                <a:srgbClr val="059669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323080" y="4551680"/>
            <a:ext cx="3545840" cy="1894205"/>
          </a:xfrm>
          <a:prstGeom prst="rect">
            <a:avLst/>
          </a:prstGeom>
          <a:solidFill>
            <a:srgbClr val="F8F7F6"/>
          </a:solidFill>
          <a:ln w="12700">
            <a:solidFill>
              <a:srgbClr val="DFDEDD"/>
            </a:solidFill>
            <a:prstDash val="solid"/>
          </a:ln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60570" y="4772660"/>
            <a:ext cx="3067685" cy="143573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 marL="0" indent="0" algn="ctr">
              <a:buNone/>
            </a:pPr>
            <a:r>
              <a:rPr lang="en-US" sz="3000" b="1" kern="0" spc="5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[PAIR (2 min)]</a:t>
            </a:r>
            <a:endParaRPr lang="en-US" sz="3000" b="1" kern="0" spc="50" dirty="0">
              <a:solidFill>
                <a:srgbClr val="059669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097520" y="4590415"/>
            <a:ext cx="3545840" cy="1850390"/>
          </a:xfrm>
          <a:prstGeom prst="rect">
            <a:avLst/>
          </a:prstGeom>
          <a:solidFill>
            <a:srgbClr val="F8F7F6"/>
          </a:solidFill>
          <a:ln w="12700">
            <a:solidFill>
              <a:srgbClr val="DFDEDD"/>
            </a:solidFill>
            <a:prstDash val="solid"/>
          </a:ln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58505" y="4772660"/>
            <a:ext cx="3068320" cy="1435735"/>
          </a:xfrm>
          <a:prstGeom prst="rect">
            <a:avLst/>
          </a:prstGeom>
          <a:noFill/>
        </p:spPr>
        <p:txBody>
          <a:bodyPr wrap="square" lIns="0" tIns="0" rIns="0" bIns="0" rtlCol="0" anchor="ctr" anchorCtr="0"/>
          <a:lstStyle/>
          <a:p>
            <a:pPr marL="0" indent="0" algn="ctr">
              <a:buNone/>
            </a:pPr>
            <a:r>
              <a:rPr lang="en-US" sz="3000" b="1" kern="0" spc="5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[SHARE (1 min)]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899855" y="647395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50" dirty="0">
                <a:solidFill>
                  <a:srgbClr val="6B66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TEMPLATE  ·  activity_grid3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3" name="Text 1"/>
          <p:cNvSpPr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[ACTIVITY NAME] - [PHASE/TOPIC]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89915" y="966470"/>
            <a:ext cx="7249795" cy="5055870"/>
          </a:xfrm>
          <a:prstGeom prst="rect">
            <a:avLst/>
          </a:prstGeom>
          <a:solidFill>
            <a:srgbClr val="F8F7F6"/>
          </a:solidFill>
          <a:ln w="12700">
            <a:solidFill>
              <a:srgbClr val="DFDEDD"/>
            </a:solidFill>
            <a:prstDash val="solid"/>
          </a:ln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966470"/>
            <a:ext cx="76200" cy="5068570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8" name="Text 6"/>
          <p:cNvSpPr/>
          <p:nvPr/>
        </p:nvSpPr>
        <p:spPr>
          <a:xfrm>
            <a:off x="749935" y="1219200"/>
            <a:ext cx="6868795" cy="454088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indent="0">
              <a:lnSpc>
                <a:spcPct val="130000"/>
              </a:lnSpc>
              <a:spcAft>
                <a:spcPts val="1400"/>
              </a:spcAft>
              <a:buSzPct val="100000"/>
              <a:buNone/>
            </a:pPr>
            <a:r>
              <a:rPr lang="en-US" sz="3200" dirty="0">
                <a:solidFill>
                  <a:srgbClr val="2C2420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[Write the discussion prompt or debate motion here. Keep it specific enough that groups know exactly what to argue or analyze.]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877810" y="966470"/>
            <a:ext cx="3820795" cy="5043170"/>
          </a:xfrm>
          <a:prstGeom prst="rect">
            <a:avLst/>
          </a:prstGeom>
          <a:solidFill>
            <a:srgbClr val="F8F7F6"/>
          </a:solidFill>
          <a:ln w="12700">
            <a:solidFill>
              <a:srgbClr val="DFDEDD"/>
            </a:solidFill>
            <a:prstDash val="solid"/>
          </a:ln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932911" y="1208405"/>
            <a:ext cx="3765389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🛠️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8106410" y="1724025"/>
            <a:ext cx="3308350" cy="511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kern="0" spc="5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Logistics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8106410" y="2384425"/>
            <a:ext cx="3514725" cy="31432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indent="0">
              <a:lnSpc>
                <a:spcPct val="125000"/>
              </a:lnSpc>
              <a:spcAft>
                <a:spcPts val="800"/>
              </a:spcAft>
              <a:buSzPct val="100000"/>
              <a:buNone/>
            </a:pPr>
            <a:r>
              <a:rPr lang="en-US" sz="2400" dirty="0">
                <a:solidFill>
                  <a:srgbClr val="2C2420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[Form groups of 4]</a:t>
            </a:r>
            <a:endParaRPr lang="en-US" sz="2400" dirty="0"/>
          </a:p>
          <a:p>
            <a:pPr indent="0">
              <a:lnSpc>
                <a:spcPct val="125000"/>
              </a:lnSpc>
              <a:spcAft>
                <a:spcPts val="800"/>
              </a:spcAft>
              <a:buSzPct val="100000"/>
              <a:buNone/>
            </a:pPr>
            <a:r>
              <a:rPr lang="en-US" sz="2400" dirty="0">
                <a:solidFill>
                  <a:srgbClr val="2C2420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[X minutes to discuss]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899855" y="647395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50" dirty="0">
                <a:solidFill>
                  <a:srgbClr val="6B66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TEMPLATE  ·  activity_sidebar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ext 1"/>
          <p:cNvSpPr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[ACTIVITY NAME] - [PHASE/TOPIC]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996950"/>
            <a:ext cx="11094720" cy="5045075"/>
          </a:xfrm>
          <a:prstGeom prst="rect">
            <a:avLst/>
          </a:prstGeom>
          <a:solidFill>
            <a:srgbClr val="F8F7F6"/>
          </a:solidFill>
          <a:ln w="12700">
            <a:solidFill>
              <a:srgbClr val="DFDEDD"/>
            </a:solidFill>
            <a:prstDash val="solid"/>
          </a:ln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213081" y="2057400"/>
            <a:ext cx="3765389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🙋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395961" y="2697480"/>
            <a:ext cx="3399629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kern="0" spc="5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[Floor is Open]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1414780" y="3246120"/>
            <a:ext cx="9365615" cy="2514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3000" dirty="0">
                <a:solidFill>
                  <a:srgbClr val="6B66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[Short supporting note — e.g. how participants should signal a question.]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899855" y="647395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50" dirty="0">
                <a:solidFill>
                  <a:srgbClr val="6B66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TEMPLATE  ·  activity_q&amp;a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 flipH="1">
            <a:off x="545465" y="1003300"/>
            <a:ext cx="83185" cy="5044440"/>
          </a:xfrm>
          <a:prstGeom prst="rect">
            <a:avLst/>
          </a:prstGeom>
          <a:solidFill>
            <a:srgbClr val="2563EB"/>
          </a:solid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ext 1"/>
          <p:cNvSpPr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 QUIZ</a:t>
            </a:r>
            <a:r>
              <a:rPr lang="en-US" sz="1600" b="1" kern="0" spc="15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 - </a:t>
            </a:r>
            <a:r>
              <a:rPr lang="en-US" sz="1600" b="1" kern="0" spc="15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[PHASE]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11094415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2C242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  <a:sym typeface="+mn-ea"/>
              </a:rPr>
              <a:t>[</a:t>
            </a:r>
            <a:r>
              <a:rPr lang="en-US" sz="3200" b="1" dirty="0">
                <a:solidFill>
                  <a:srgbClr val="2C242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Poll Question Goes Here?]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94415" cy="777240"/>
          </a:xfrm>
          <a:prstGeom prst="rect">
            <a:avLst/>
          </a:prstGeom>
          <a:solidFill>
            <a:srgbClr val="F8F7F6"/>
          </a:solidFill>
          <a:ln w="12700">
            <a:solidFill>
              <a:srgbClr val="DFDEDD"/>
            </a:solidFill>
            <a:prstDash val="solid"/>
          </a:ln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906524"/>
            <a:ext cx="548640" cy="438912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7" name="Text 5"/>
          <p:cNvSpPr/>
          <p:nvPr/>
        </p:nvSpPr>
        <p:spPr>
          <a:xfrm>
            <a:off x="804672" y="1906524"/>
            <a:ext cx="5486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00200" y="1737360"/>
            <a:ext cx="9722815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2C24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[Option A]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48640" y="2697480"/>
            <a:ext cx="11094415" cy="777240"/>
          </a:xfrm>
          <a:prstGeom prst="rect">
            <a:avLst/>
          </a:prstGeom>
          <a:solidFill>
            <a:srgbClr val="F8F7F6"/>
          </a:solidFill>
          <a:ln w="12700">
            <a:solidFill>
              <a:srgbClr val="DFDEDD"/>
            </a:solidFill>
            <a:prstDash val="solid"/>
          </a:ln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4672" y="2866644"/>
            <a:ext cx="548640" cy="438912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1" name="Text 9"/>
          <p:cNvSpPr/>
          <p:nvPr/>
        </p:nvSpPr>
        <p:spPr>
          <a:xfrm>
            <a:off x="804672" y="2866644"/>
            <a:ext cx="5486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00200" y="2697480"/>
            <a:ext cx="9722815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2C24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[Option B]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11094415" cy="777240"/>
          </a:xfrm>
          <a:prstGeom prst="rect">
            <a:avLst/>
          </a:prstGeom>
          <a:solidFill>
            <a:srgbClr val="F8F7F6"/>
          </a:solidFill>
          <a:ln w="12700">
            <a:solidFill>
              <a:srgbClr val="DFDEDD"/>
            </a:solidFill>
            <a:prstDash val="solid"/>
          </a:ln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" y="3826764"/>
            <a:ext cx="548640" cy="438912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5" name="Text 13"/>
          <p:cNvSpPr/>
          <p:nvPr/>
        </p:nvSpPr>
        <p:spPr>
          <a:xfrm>
            <a:off x="804672" y="3826764"/>
            <a:ext cx="5486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00200" y="3657600"/>
            <a:ext cx="9722815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2C24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[Option C]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548640" y="4617720"/>
            <a:ext cx="11094415" cy="777240"/>
          </a:xfrm>
          <a:prstGeom prst="rect">
            <a:avLst/>
          </a:prstGeom>
          <a:solidFill>
            <a:srgbClr val="F8F7F6"/>
          </a:solidFill>
          <a:ln w="12700">
            <a:solidFill>
              <a:srgbClr val="DFDEDD"/>
            </a:solidFill>
            <a:prstDash val="solid"/>
          </a:ln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4672" y="4786884"/>
            <a:ext cx="548640" cy="438912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9" name="Text 17"/>
          <p:cNvSpPr/>
          <p:nvPr/>
        </p:nvSpPr>
        <p:spPr>
          <a:xfrm>
            <a:off x="804672" y="4786884"/>
            <a:ext cx="5486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600200" y="4617720"/>
            <a:ext cx="9722815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2C24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[Option D]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8899855" y="647395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50" dirty="0">
                <a:solidFill>
                  <a:srgbClr val="6B66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TEMPLATE  ·  live_poll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6D28D9"/>
          </a:solidFill>
        </p:spPr>
      </p:sp>
      <p:sp>
        <p:nvSpPr>
          <p:cNvPr id="3" name="Text 1"/>
          <p:cNvSpPr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6D28D9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🔄 DEBRIEF - </a:t>
            </a:r>
            <a:r>
              <a:rPr lang="en-US" sz="1600" b="1" kern="0" spc="150" dirty="0">
                <a:solidFill>
                  <a:srgbClr val="6D28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[PHASE]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11094415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915035"/>
            <a:ext cx="11094720" cy="2102485"/>
          </a:xfrm>
          <a:prstGeom prst="rect">
            <a:avLst/>
          </a:prstGeom>
          <a:solidFill>
            <a:srgbClr val="F8F7F6"/>
          </a:solidFill>
          <a:ln w="12700">
            <a:solidFill>
              <a:srgbClr val="DFDEDD"/>
            </a:solidFill>
            <a:prstDash val="solid"/>
          </a:ln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915670"/>
            <a:ext cx="76200" cy="2101850"/>
          </a:xfrm>
          <a:prstGeom prst="rect">
            <a:avLst/>
          </a:prstGeom>
          <a:solidFill>
            <a:srgbClr val="6D28D9"/>
          </a:solidFill>
        </p:spPr>
      </p:sp>
      <p:sp>
        <p:nvSpPr>
          <p:cNvPr id="7" name="Text 5"/>
          <p:cNvSpPr/>
          <p:nvPr/>
        </p:nvSpPr>
        <p:spPr>
          <a:xfrm>
            <a:off x="749808" y="1101471"/>
            <a:ext cx="10692079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kern="0" spc="50" dirty="0">
                <a:solidFill>
                  <a:srgbClr val="6D28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SUGGESTED ANSWER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9808" y="1465453"/>
            <a:ext cx="10692079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2C24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[Summarize the correct answer or ideal response to the activity prompt, so you can compare it against what groups came up with.]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5432908" cy="2788920"/>
          </a:xfrm>
          <a:prstGeom prst="rect">
            <a:avLst/>
          </a:prstGeom>
          <a:solidFill>
            <a:srgbClr val="F8F7F6"/>
          </a:solidFill>
          <a:ln w="12700">
            <a:solidFill>
              <a:srgbClr val="DFDEDD"/>
            </a:solidFill>
            <a:prstDash val="solid"/>
          </a:ln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9808" y="3374136"/>
            <a:ext cx="5030572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kern="0" spc="50" dirty="0">
                <a:solidFill>
                  <a:srgbClr val="6D28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COMMON MISCONCEPTIONS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49808" y="3749040"/>
            <a:ext cx="5030572" cy="2103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C24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[Misconception participants often have]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C24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[A second common mistake or gap]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C24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[Why this misconception happens]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0148" y="3246120"/>
            <a:ext cx="5432908" cy="2788920"/>
          </a:xfrm>
          <a:prstGeom prst="rect">
            <a:avLst/>
          </a:prstGeom>
          <a:solidFill>
            <a:srgbClr val="F8F7F6"/>
          </a:solidFill>
          <a:ln w="12700">
            <a:solidFill>
              <a:srgbClr val="DFDEDD"/>
            </a:solidFill>
            <a:prstDash val="solid"/>
          </a:ln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0148" y="3246120"/>
            <a:ext cx="41148" cy="2788920"/>
          </a:xfrm>
          <a:prstGeom prst="rect">
            <a:avLst/>
          </a:prstGeom>
          <a:solidFill>
            <a:srgbClr val="865C1D"/>
          </a:solidFill>
        </p:spPr>
      </p:sp>
      <p:sp>
        <p:nvSpPr>
          <p:cNvPr id="14" name="Text 12"/>
          <p:cNvSpPr/>
          <p:nvPr/>
        </p:nvSpPr>
        <p:spPr>
          <a:xfrm>
            <a:off x="6411316" y="3374136"/>
            <a:ext cx="5030572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kern="0" spc="50" dirty="0">
                <a:solidFill>
                  <a:srgbClr val="865C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11316" y="3749040"/>
            <a:ext cx="5030572" cy="2103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C24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[State the one main insight participants should leave with, and tie it explicitly back to the learning goal for this section.]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899855" y="647395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50" dirty="0">
                <a:solidFill>
                  <a:srgbClr val="6B66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TEMPLATE  ·  debrief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6D28D9"/>
          </a:solidFill>
        </p:spPr>
      </p:sp>
      <p:sp>
        <p:nvSpPr>
          <p:cNvPr id="3" name="Text 1"/>
          <p:cNvSpPr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6D28D9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📖 LECTURE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11094415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C242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[Placeholder] - [Lecture Topic]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4415" cy="4434840"/>
          </a:xfrm>
          <a:prstGeom prst="rect">
            <a:avLst/>
          </a:prstGeom>
          <a:solidFill>
            <a:srgbClr val="F8F7F6"/>
          </a:solidFill>
          <a:ln w="19050">
            <a:solidFill>
              <a:srgbClr val="6D28D9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48640" y="2971800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📝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097280" y="3794760"/>
            <a:ext cx="999713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C242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Instructor content goes here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828800" y="4343400"/>
            <a:ext cx="8534095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2000" dirty="0">
                <a:solidFill>
                  <a:srgbClr val="6B66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[Add your own slides, diagrams, code, or speaking notes for this section of the lecture.]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899855" y="647395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50" dirty="0">
                <a:solidFill>
                  <a:srgbClr val="6B66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TEMPLATE  ·  lecture_placeholder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📝</a:t>
            </a: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</a:t>
            </a:r>
            <a:r>
              <a:rPr lang="en-US" sz="1600" b="1" kern="0" spc="150" dirty="0">
                <a:solidFill>
                  <a:srgbClr val="865C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SUMMARY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1094415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2C242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[Session Title]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4434840"/>
          </a:xfrm>
          <a:prstGeom prst="rect">
            <a:avLst/>
          </a:prstGeom>
          <a:solidFill>
            <a:srgbClr val="F8F7F6"/>
          </a:solidFill>
          <a:ln w="12700">
            <a:solidFill>
              <a:srgbClr val="DFDEDD"/>
            </a:solidFill>
            <a:prstDash val="solid"/>
          </a:ln>
          <a:effectLst>
            <a:outerShdw blurRad="76200" dist="254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057400"/>
            <a:ext cx="10454335" cy="3749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3000" dirty="0">
                <a:solidFill>
                  <a:srgbClr val="2C24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[First key point participants should take away from this section]</a:t>
            </a:r>
            <a:endParaRPr lang="en-US" sz="30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3000" dirty="0">
                <a:solidFill>
                  <a:srgbClr val="2C24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[Second key point — keep each bullet to a single idea]</a:t>
            </a:r>
            <a:endParaRPr lang="en-US" sz="30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3000" dirty="0">
                <a:solidFill>
                  <a:srgbClr val="2C24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[Third key point, with a supporting detail or example]</a:t>
            </a:r>
            <a:endParaRPr lang="en-US" sz="30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3000" dirty="0">
                <a:solidFill>
                  <a:srgbClr val="2C24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[Fourth key point — optional, remove if not needed]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899855" y="647395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50" dirty="0">
                <a:solidFill>
                  <a:srgbClr val="6B66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TEMPLATE  ·  summary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5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3657600" cy="3657600"/>
          </a:xfrm>
          <a:prstGeom prst="ellipse">
            <a:avLst/>
          </a:prstGeom>
          <a:solidFill>
            <a:srgbClr val="865C1D">
              <a:alpha val="8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9997135" y="4663440"/>
            <a:ext cx="3657600" cy="3657600"/>
          </a:xfrm>
          <a:prstGeom prst="ellipse">
            <a:avLst/>
          </a:prstGeom>
          <a:solidFill>
            <a:srgbClr val="059669">
              <a:alpha val="8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0" y="2011680"/>
            <a:ext cx="12191695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☕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0" y="2880360"/>
            <a:ext cx="12191695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2C242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Break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0" y="3794760"/>
            <a:ext cx="12191695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6B66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[X] minutes — see you soon!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899855" y="647395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50" dirty="0">
                <a:solidFill>
                  <a:srgbClr val="6B66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TEMPLATE  ·  break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1960</Words>
  <Application>WPS Presentation</Application>
  <PresentationFormat>On-screen Show (16:9)</PresentationFormat>
  <Paragraphs>149</Paragraphs>
  <Slides>11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32" baseType="lpstr">
      <vt:lpstr>Arial</vt:lpstr>
      <vt:lpstr>SimSun</vt:lpstr>
      <vt:lpstr>Wingdings</vt:lpstr>
      <vt:lpstr>Playfair Display</vt:lpstr>
      <vt:lpstr>苹方-简</vt:lpstr>
      <vt:lpstr>Playfair Display</vt:lpstr>
      <vt:lpstr>Playfair Display</vt:lpstr>
      <vt:lpstr>Inter</vt:lpstr>
      <vt:lpstr>Inter</vt:lpstr>
      <vt:lpstr>Inter</vt:lpstr>
      <vt:lpstr>Calibri</vt:lpstr>
      <vt:lpstr>Helvetica Neue</vt:lpstr>
      <vt:lpstr>Microsoft YaHei</vt:lpstr>
      <vt:lpstr>方正雅意黑 GB18030L2</vt:lpstr>
      <vt:lpstr>Arial Unicode MS</vt:lpstr>
      <vt:lpstr>等线</vt:lpstr>
      <vt:lpstr>汉仪中等线KW</vt:lpstr>
      <vt:lpstr>汉仪书宋二KW</vt:lpstr>
      <vt:lpstr>Apple Color Emoji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jess</cp:lastModifiedBy>
  <cp:revision>3</cp:revision>
  <dcterms:created xsi:type="dcterms:W3CDTF">2026-09-15T20:38:31Z</dcterms:created>
  <dcterms:modified xsi:type="dcterms:W3CDTF">2026-09-15T20:38:31Z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1033-12.1.26046.26046</vt:lpwstr>
  </property>
  <property fmtid="{D5CDD505-2E9C-101B-9397-08002B2CF9AE}" pid="3" name="ICV">
    <vt:lpwstr>92DDB76E171055D2D19EA96A9678D080_42</vt:lpwstr>
  </property>
</Properties>
</file>