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70" r:id="rId7"/>
    <p:sldId id="259" r:id="rId8"/>
    <p:sldId id="268" r:id="rId9"/>
    <p:sldId id="267" r:id="rId10"/>
    <p:sldId id="262" r:id="rId11"/>
    <p:sldId id="269" r:id="rId12"/>
    <p:sldId id="264" r:id="rId13"/>
    <p:sldId id="258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title — Used for the session title slide. Replace the bracketed placeholders with the session name, instructor, date and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agenda — Used for the agenda / learning goals slide. Copy the learning-goal list from your session plan; each row can carry an optional time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content — General-purpose slide for a welcome message or a bulleted summary. Swap the eyebrow/title and bullet text for your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activity_grid3 — Used for 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🧠 </a:t>
            </a:r>
            <a:r>
              <a:rPr 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THINK-PAIR-SHARE</a:t>
            </a:r>
            <a:br>
              <a:rPr 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</a:b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🧠 </a:t>
            </a:r>
            <a:r>
              <a:rPr lang="en-US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Brainstorming</a:t>
            </a:r>
            <a:endParaRPr lang="en-US" altLang="en-US" b="1" kern="0" spc="1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  <a:p>
            <a:r>
              <a:rPr lang="en-US" altLang="en-US" b="1" dirty="0">
                <a:sym typeface="+mn-ea"/>
              </a:rPr>
              <a:t>⚙️  </a:t>
            </a:r>
            <a:r>
              <a:rPr lang="en-US" b="1" dirty="0">
                <a:sym typeface="+mn-ea"/>
              </a:rPr>
              <a:t>WORKED PROBLEM</a:t>
            </a:r>
            <a:br>
              <a:rPr lang="en-US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</a:br>
            <a:r>
              <a:rPr lang="zh-CN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🎨</a:t>
            </a:r>
            <a:r>
              <a:rPr lang="en-US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Design Sprint / Prototype Challenge</a:t>
            </a:r>
            <a:endParaRPr lang="en-US" altLang="en-US" b="1" kern="0" spc="1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Layout: activity_sidebar — Used for </a:t>
            </a:r>
            <a:br>
              <a:rPr lang="en-US" dirty="0">
                <a:sym typeface="+mn-ea"/>
              </a:rPr>
            </a:br>
            <a:r>
              <a:rPr lang="zh-CN" alt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💬</a:t>
            </a:r>
            <a:r>
              <a:rPr lang="en-US" altLang="zh-CN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</a:t>
            </a:r>
            <a:r>
              <a:rPr 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GROUP DISCUSSION</a:t>
            </a:r>
            <a:r>
              <a:rPr lang="en-US" dirty="0">
                <a:sym typeface="+mn-ea"/>
              </a:rPr>
              <a:t>, </a:t>
            </a:r>
            <a:br>
              <a:rPr lang="en-US" dirty="0">
                <a:sym typeface="+mn-ea"/>
              </a:rPr>
            </a:br>
            <a:r>
              <a:rPr lang="zh-CN" altLang="en-US" dirty="0">
                <a:sym typeface="+mn-ea"/>
              </a:rPr>
              <a:t>🗣️</a:t>
            </a:r>
            <a:r>
              <a:rPr lang="en-US" altLang="zh-CN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Debate </a:t>
            </a:r>
            <a:br>
              <a:rPr lang="en-US" b="1" dirty="0">
                <a:sym typeface="+mn-ea"/>
              </a:rPr>
            </a:br>
            <a:r>
              <a:rPr lang="zh-CN" altLang="en-US" b="1" dirty="0">
                <a:sym typeface="+mn-ea"/>
              </a:rPr>
              <a:t>👥</a:t>
            </a:r>
            <a:r>
              <a:rPr lang="en-US" altLang="zh-CN" b="1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Peer Review</a:t>
            </a:r>
            <a:endParaRPr lang="en-US" b="1" dirty="0"/>
          </a:p>
          <a:p>
            <a:r>
              <a:rPr lang="zh-CN" altLang="en-US" b="1" dirty="0">
                <a:sym typeface="+mn-ea"/>
              </a:rPr>
              <a:t>🎭</a:t>
            </a:r>
            <a:r>
              <a:rPr lang="en-US" altLang="zh-CN" b="1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Role Play</a:t>
            </a:r>
            <a:endParaRPr lang="en-US" b="1" dirty="0"/>
          </a:p>
          <a:p>
            <a:r>
              <a:rPr lang="zh-CN" alt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💼</a:t>
            </a:r>
            <a:r>
              <a:rPr 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</a:t>
            </a:r>
            <a:r>
              <a:rPr lang="en-US" b="1" dirty="0">
                <a:sym typeface="+mn-ea"/>
              </a:rPr>
              <a:t>CASE STUDY</a:t>
            </a:r>
            <a:br>
              <a:rPr lang="en-US" b="1" dirty="0">
                <a:sym typeface="+mn-ea"/>
              </a:rPr>
            </a:br>
            <a:r>
              <a:rPr lang="zh-CN" altLang="en-US" b="1" dirty="0">
                <a:sym typeface="+mn-ea"/>
              </a:rPr>
              <a:t>🗺</a:t>
            </a:r>
            <a:r>
              <a:rPr lang="en-US" altLang="zh-CN" b="1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CONCEPT MAPPING</a:t>
            </a:r>
            <a:endParaRPr lang="en-US" b="1" dirty="0">
              <a:sym typeface="+mn-ea"/>
            </a:endParaRPr>
          </a:p>
          <a:p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🛠️  </a:t>
            </a:r>
            <a:r>
              <a:rPr 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HANDS-ON PRACTICE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a prompt card plus two supporting tiles (e.g. logistics + deliverable). Duplicate and relabel the tiles as needed.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activity_sidebar — Used for 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🙋  </a:t>
            </a:r>
            <a:r>
              <a:rPr lang="en-US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Q&amp;A SESSION</a:t>
            </a:r>
            <a:r>
              <a:rPr lang="en-US" dirty="0"/>
              <a:t>, One Minute 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live_poll — Used for quiz or poll questions with lettered options. </a:t>
            </a:r>
            <a:br>
              <a:rPr lang="en-US" dirty="0"/>
            </a:br>
            <a:r>
              <a:rPr lang="en-US" dirty="0"/>
              <a:t>Add/remove option rows as needed (3 or 4 tends to fit best).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debrief — Instructor-facing recap that follows an activity slide: suggested answer, common misconceptions, and the key takeaway tied to the learning goal. No participant interaction required — this is a summary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lecture_placeholder — Marks where instructor-led lecture content belongs. Replace the placeholder box with your own slides/diagrams/notes; this layout is deliberately left generic.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summary — General-purpose slide for a welcome message or a bulleted summary. Swap the eyebrow/title and bullet text for your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break — Standalone break slide. Set the duration and optionally add a room number or return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3840480" cy="3840480"/>
          </a:xfrm>
          <a:prstGeom prst="ellipse">
            <a:avLst/>
          </a:prstGeom>
          <a:solidFill>
            <a:srgbClr val="865C1D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059669">
              <a:alpha val="8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1668780"/>
            <a:ext cx="10728655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[Session Title]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title</a:t>
            </a:r>
            <a:endParaRPr lang="en-US" sz="850" dirty="0"/>
          </a:p>
        </p:txBody>
      </p:sp>
      <p:sp>
        <p:nvSpPr>
          <p:cNvPr id="4" name="Text 4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[Instructor Name]   ·   [Date]   ·   [Duration]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🗂️ </a:t>
            </a:r>
            <a:r>
              <a:rPr lang="en-US" sz="1600" b="1" kern="0" spc="1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We'll Cover Today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69390"/>
            <a:ext cx="11082020" cy="107886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24838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6" name="Text 4"/>
          <p:cNvSpPr/>
          <p:nvPr/>
        </p:nvSpPr>
        <p:spPr>
          <a:xfrm>
            <a:off x="749808" y="162483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69390"/>
            <a:ext cx="10248900" cy="713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[Learning Goal 1]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791460"/>
            <a:ext cx="11121390" cy="107886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46781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11" name="Text 9"/>
          <p:cNvSpPr/>
          <p:nvPr/>
        </p:nvSpPr>
        <p:spPr>
          <a:xfrm>
            <a:off x="749808" y="294678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91460"/>
            <a:ext cx="10252075" cy="713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[Learning Goal 2]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4113530"/>
            <a:ext cx="11082020" cy="107886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268724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16" name="Text 14"/>
          <p:cNvSpPr/>
          <p:nvPr/>
        </p:nvSpPr>
        <p:spPr>
          <a:xfrm>
            <a:off x="749808" y="42687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113530"/>
            <a:ext cx="10259060" cy="713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[Learning Goal 3]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35305" y="5435600"/>
            <a:ext cx="11095355" cy="107886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473" y="5591302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21" name="Text 19"/>
          <p:cNvSpPr/>
          <p:nvPr/>
        </p:nvSpPr>
        <p:spPr>
          <a:xfrm>
            <a:off x="736473" y="559130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58265" y="5435600"/>
            <a:ext cx="10285095" cy="713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[Learning Goal ...]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36473" y="595490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agenda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👋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b="1" kern="0" spc="1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Welcome to [Session Title]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9910" y="2030730"/>
            <a:ext cx="11093450" cy="400431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71395"/>
            <a:ext cx="10454640" cy="3535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[Welcome messages]</a:t>
            </a:r>
            <a:endParaRPr lang="en-US" sz="3000" dirty="0"/>
          </a:p>
          <a:p>
            <a:pPr indent="0">
              <a:lnSpc>
                <a:spcPct val="130000"/>
              </a:lnSpc>
              <a:spcAft>
                <a:spcPts val="1400"/>
              </a:spcAft>
              <a:buSzPct val="100000"/>
              <a:buNone/>
            </a:pP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welcom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[ACTIVITY NAME] - </a:t>
            </a:r>
            <a:r>
              <a:rPr lang="en-US" sz="1600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[PHASE]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04240"/>
            <a:ext cx="11104245" cy="338201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04240"/>
            <a:ext cx="82550" cy="33705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5"/>
          <p:cNvSpPr/>
          <p:nvPr/>
        </p:nvSpPr>
        <p:spPr>
          <a:xfrm>
            <a:off x="868680" y="1171067"/>
            <a:ext cx="10454335" cy="905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[Write the question or task participants will think about individually, then discuss with a partner, before sharing with the room.]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4545965"/>
            <a:ext cx="3545840" cy="190055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4700" y="4772660"/>
            <a:ext cx="3086735" cy="1452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30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[THINK (2 min)]</a:t>
            </a:r>
            <a:endParaRPr lang="en-US" sz="3000" b="1" kern="0" spc="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3080" y="4551680"/>
            <a:ext cx="3545840" cy="189420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60570" y="4772660"/>
            <a:ext cx="3067685" cy="14357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30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[PAIR (2 min)]</a:t>
            </a:r>
            <a:endParaRPr lang="en-US" sz="3000" b="1" kern="0" spc="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97520" y="4590415"/>
            <a:ext cx="3545840" cy="185039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8505" y="4772660"/>
            <a:ext cx="3068320" cy="1435735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en-US" sz="30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[SHARE (1 min)]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activity_grid3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[ACTIVITY NAME] - [PHASE/TOPIC]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9915" y="966470"/>
            <a:ext cx="7249795" cy="505587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6470"/>
            <a:ext cx="76200" cy="506857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8" name="Text 6"/>
          <p:cNvSpPr/>
          <p:nvPr/>
        </p:nvSpPr>
        <p:spPr>
          <a:xfrm>
            <a:off x="749935" y="1219200"/>
            <a:ext cx="6868795" cy="4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ct val="130000"/>
              </a:lnSpc>
              <a:spcAft>
                <a:spcPts val="1400"/>
              </a:spcAft>
              <a:buSzPct val="100000"/>
              <a:buNone/>
            </a:pPr>
            <a:r>
              <a:rPr lang="en-US" sz="32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[Write the discussion prompt or debate motion here. Keep it specific enough that groups know exactly what to argue or analyze.]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877810" y="966470"/>
            <a:ext cx="3820795" cy="504317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32911" y="1208405"/>
            <a:ext cx="376538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🛠️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06410" y="1724025"/>
            <a:ext cx="3308350" cy="511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06410" y="2384425"/>
            <a:ext cx="3514725" cy="3143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ct val="125000"/>
              </a:lnSpc>
              <a:spcAft>
                <a:spcPts val="800"/>
              </a:spcAft>
              <a:buSzPct val="100000"/>
              <a:buNone/>
            </a:pPr>
            <a:r>
              <a:rPr lang="en-US" sz="24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[Form groups of 4]</a:t>
            </a:r>
            <a:endParaRPr lang="en-US" sz="2400" dirty="0"/>
          </a:p>
          <a:p>
            <a:pPr indent="0">
              <a:lnSpc>
                <a:spcPct val="125000"/>
              </a:lnSpc>
              <a:spcAft>
                <a:spcPts val="800"/>
              </a:spcAft>
              <a:buSzPct val="100000"/>
              <a:buNone/>
            </a:pPr>
            <a:r>
              <a:rPr lang="en-US" sz="24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[X minutes to discuss]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activity_sidebar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[ACTIVITY NAME] - [PHASE/TOPIC]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996950"/>
            <a:ext cx="11094720" cy="504507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13081" y="2057400"/>
            <a:ext cx="376538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🙋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95961" y="2697480"/>
            <a:ext cx="3399629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[Floor is Open]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414780" y="3246120"/>
            <a:ext cx="9365615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[Short supporting note — e.g. how participants should signal a question.]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activity_q&amp;a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 flipH="1">
            <a:off x="545465" y="1003300"/>
            <a:ext cx="83185" cy="5044440"/>
          </a:xfrm>
          <a:prstGeom prst="rect">
            <a:avLst/>
          </a:prstGeom>
          <a:solidFill>
            <a:srgbClr val="2563EB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QUIZ</a:t>
            </a: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- </a:t>
            </a: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[PHASE]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  <a:sym typeface="+mn-ea"/>
              </a:rPr>
              <a:t>[</a:t>
            </a:r>
            <a:r>
              <a:rPr lang="en-US" sz="3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Poll Question Goes Here?]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04085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73249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804672" y="2373249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204085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A]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164205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333369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804672" y="3333369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164205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B]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4124325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293489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804672" y="4293489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124325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C]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5084445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5253609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804672" y="5253609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084445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D]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live_poll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🔄 DEBRIEF - </a:t>
            </a:r>
            <a:r>
              <a:rPr lang="en-US" sz="1600" b="1" kern="0" spc="1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[PHASE]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15035"/>
            <a:ext cx="11094720" cy="210248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15670"/>
            <a:ext cx="76200" cy="210185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7" name="Text 5"/>
          <p:cNvSpPr/>
          <p:nvPr/>
        </p:nvSpPr>
        <p:spPr>
          <a:xfrm>
            <a:off x="749935" y="1101725"/>
            <a:ext cx="10692130" cy="36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ANSWER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935" y="1465580"/>
            <a:ext cx="10708640" cy="1341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[Summarize the correct answer or ideal response to the activity prompt, so you can compare it against what groups came up with.]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432908" cy="278892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3374136"/>
            <a:ext cx="503057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MISCONCEPTIONS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3749040"/>
            <a:ext cx="5030572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[Misconception participants often have]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 second common mistake or gap]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[Why this misconception happens]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0148" y="3246120"/>
            <a:ext cx="5432908" cy="278892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0148" y="3246120"/>
            <a:ext cx="41148" cy="2788920"/>
          </a:xfrm>
          <a:prstGeom prst="rect">
            <a:avLst/>
          </a:prstGeom>
          <a:solidFill>
            <a:srgbClr val="865C1D"/>
          </a:solidFill>
        </p:spPr>
      </p:sp>
      <p:sp>
        <p:nvSpPr>
          <p:cNvPr id="14" name="Text 12"/>
          <p:cNvSpPr/>
          <p:nvPr/>
        </p:nvSpPr>
        <p:spPr>
          <a:xfrm>
            <a:off x="6411316" y="3374136"/>
            <a:ext cx="503057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11316" y="3749040"/>
            <a:ext cx="5030572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[State the one main insight participants should leave with, and tie it explicitly back to the learning goal for this section.]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debrief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📖 LECTURE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[Placeholder] - [Lecture Topic]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4434840"/>
          </a:xfrm>
          <a:prstGeom prst="rect">
            <a:avLst/>
          </a:prstGeom>
          <a:solidFill>
            <a:srgbClr val="F8F7F6"/>
          </a:solidFill>
          <a:ln w="19050">
            <a:solidFill>
              <a:srgbClr val="6D28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3794760"/>
            <a:ext cx="999713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Instructor content goes here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4343400"/>
            <a:ext cx="8534095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[Add your own slides, diagrams, code, or speaking notes for this section of the lecture.]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lecture_placeholder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  <a:r>
              <a:rPr lang="en-US" sz="1600" b="1" kern="0" spc="1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[Session Title]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61185"/>
            <a:ext cx="11094720" cy="417385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10454335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[First key point participants should take away from this section]</a:t>
            </a:r>
            <a:endParaRPr lang="en-US" sz="30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[Second key point — keep each bullet to a single idea]</a:t>
            </a:r>
            <a:endParaRPr lang="en-US" sz="30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[Third key point, with a supporting detail or example]</a:t>
            </a:r>
            <a:endParaRPr lang="en-US" sz="30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[Fourth key point — optional, remove if not needed]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summary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865C1D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997135" y="4663440"/>
            <a:ext cx="3657600" cy="3657600"/>
          </a:xfrm>
          <a:prstGeom prst="ellipse">
            <a:avLst/>
          </a:prstGeom>
          <a:solidFill>
            <a:srgbClr val="059669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☕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Break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 minutes — see you soon!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break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1960</Words>
  <Application>WPS Presentation</Application>
  <PresentationFormat>On-screen Show (16:9)</PresentationFormat>
  <Paragraphs>149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SimSun</vt:lpstr>
      <vt:lpstr>Wingdings</vt:lpstr>
      <vt:lpstr>Playfair Display</vt:lpstr>
      <vt:lpstr>苹方-简</vt:lpstr>
      <vt:lpstr>Playfair Display</vt:lpstr>
      <vt:lpstr>Playfair Display</vt:lpstr>
      <vt:lpstr>Inter</vt:lpstr>
      <vt:lpstr>Inter</vt:lpstr>
      <vt:lpstr>Inter</vt:lpstr>
      <vt:lpstr>Calibri</vt:lpstr>
      <vt:lpstr>Helvetica Neue</vt:lpstr>
      <vt:lpstr>Microsoft YaHei</vt:lpstr>
      <vt:lpstr>方正雅意黑 GB18030L2</vt:lpstr>
      <vt:lpstr>Arial Unicode MS</vt:lpstr>
      <vt:lpstr>等线</vt:lpstr>
      <vt:lpstr>汉仪中等线KW</vt:lpstr>
      <vt:lpstr>汉仪书宋二KW</vt:lpstr>
      <vt:lpstr>Apple Color Emoji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jess</cp:lastModifiedBy>
  <cp:revision>4</cp:revision>
  <dcterms:created xsi:type="dcterms:W3CDTF">2026-10-08T16:01:13Z</dcterms:created>
  <dcterms:modified xsi:type="dcterms:W3CDTF">2026-10-08T16:01:13Z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1033-12.1.26046.26046</vt:lpwstr>
  </property>
  <property fmtid="{D5CDD505-2E9C-101B-9397-08002B2CF9AE}" pid="3" name="ICV">
    <vt:lpwstr>92DDB76E171055D2D19EA96A9678D080_42</vt:lpwstr>
  </property>
</Properties>
</file>